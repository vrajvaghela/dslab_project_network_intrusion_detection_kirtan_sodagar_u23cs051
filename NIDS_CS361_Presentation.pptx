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2869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92240" y="548640"/>
            <a:ext cx="2468880" cy="2468880"/>
          </a:xfrm>
          <a:prstGeom prst="ellipse">
            <a:avLst/>
          </a:prstGeom>
          <a:solidFill>
            <a:srgbClr val="0F2744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914400"/>
            <a:ext cx="1737360" cy="1737360"/>
          </a:xfrm>
          <a:prstGeom prst="ellipse">
            <a:avLst/>
          </a:prstGeom>
          <a:solidFill>
            <a:srgbClr val="0077A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0" y="914400"/>
            <a:ext cx="1737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🛡️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Intrusion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System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502920" y="2331720"/>
            <a:ext cx="54864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42316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CS361 – Data Science Lab  |  SVNIT Surat  |  Jan–June 2026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5303520" cy="1828800"/>
          </a:xfrm>
          <a:prstGeom prst="rect">
            <a:avLst/>
          </a:prstGeom>
          <a:solidFill>
            <a:srgbClr val="0F2744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640080" y="3031586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340156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Kirtan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Sodagar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063240" y="340156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U23CS051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366603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Vraj Vaghela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063240" y="366603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U23CS031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" y="39234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Divyansh Vijay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63240" y="392347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U23CS080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419498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 Chudasama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63240" y="419498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U23CS061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3474720"/>
            <a:ext cx="256032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34747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628"/>
                </a:solidFill>
              </a:rPr>
              <a:t>Dataset: NSL-KDD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+ Unsupervised ML  |  SHAP Explainability  |  Optuna Tuning</a:t>
            </a:r>
            <a:endParaRPr lang="en-US" sz="1100" dirty="0"/>
          </a:p>
        </p:txBody>
      </p:sp>
      <p:sp>
        <p:nvSpPr>
          <p:cNvPr id="23" name="Text 16">
            <a:extLst>
              <a:ext uri="{FF2B5EF4-FFF2-40B4-BE49-F238E27FC236}">
                <a16:creationId xmlns:a16="http://schemas.microsoft.com/office/drawing/2014/main" id="{07A0E531-7EBB-FC0C-BF11-5B5D287CA8B4}"/>
              </a:ext>
            </a:extLst>
          </p:cNvPr>
          <p:cNvSpPr/>
          <p:nvPr/>
        </p:nvSpPr>
        <p:spPr>
          <a:xfrm>
            <a:off x="683452" y="445992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Shingala</a:t>
            </a:r>
            <a:endParaRPr lang="en-US" sz="1200" dirty="0"/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E6FCB0C9-90AE-6C05-0492-6BC3090959B9}"/>
              </a:ext>
            </a:extLst>
          </p:cNvPr>
          <p:cNvSpPr/>
          <p:nvPr/>
        </p:nvSpPr>
        <p:spPr>
          <a:xfrm>
            <a:off x="3060892" y="445992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U23CS071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Motivation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412480" y="0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0B4D8"/>
                </a:solidFill>
              </a:rPr>
              <a:t>02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4160520" cy="3611880"/>
          </a:xfrm>
          <a:prstGeom prst="rect">
            <a:avLst/>
          </a:prstGeom>
          <a:solidFill>
            <a:srgbClr val="0A162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3716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attacks are growing in volume and sophistication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65960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92024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Signature-based IDS cannot detect zero-day &amp; novel attacks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514600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46888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NSL-KDD has 125,973 records across 41+ features — hard to parse manually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063240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01752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false-negative rates in critical attack classes (U2R, R2L) risk major security breaches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611880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5661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model interpretability reduces analyst trust in automated systems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0" y="868680"/>
            <a:ext cx="416052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96012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1417320"/>
            <a:ext cx="5486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1389888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ML-based NIDS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892040" y="1591056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attack patterns automatically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1984248"/>
            <a:ext cx="5486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1956816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models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892040" y="2157984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+ XGBoost for robustness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551176"/>
            <a:ext cx="5486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2523744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892040" y="272491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for unsupervised threat hunting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54880" y="3118104"/>
            <a:ext cx="5486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309067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892040" y="329184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Oversample rare U2R/R2L attacks for recall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0" y="3685032"/>
            <a:ext cx="5486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365760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892040" y="3858768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predictions interpretable for analysts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4663440"/>
            <a:ext cx="1965960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" y="466344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</a:rPr>
              <a:t>125,973 </a:t>
            </a:r>
            <a:r>
              <a:rPr lang="en-US" sz="1100" dirty="0">
                <a:solidFill>
                  <a:srgbClr val="0A1628"/>
                </a:solidFill>
              </a:rPr>
              <a:t>Records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2468880" y="4663440"/>
            <a:ext cx="1965960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68880" y="466344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</a:rPr>
              <a:t>41+ </a:t>
            </a:r>
            <a:r>
              <a:rPr lang="en-US" sz="1100" dirty="0">
                <a:solidFill>
                  <a:srgbClr val="0A1628"/>
                </a:solidFill>
              </a:rPr>
              <a:t>Features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617720" y="4663440"/>
            <a:ext cx="1965960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17720" y="466344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</a:rPr>
              <a:t>5 </a:t>
            </a:r>
            <a:r>
              <a:rPr lang="en-US" sz="1100" dirty="0">
                <a:solidFill>
                  <a:srgbClr val="0A1628"/>
                </a:solidFill>
              </a:rPr>
              <a:t>Attack Classes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766560" y="4663440"/>
            <a:ext cx="1965960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766560" y="466344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</a:rPr>
              <a:t>0-day </a:t>
            </a:r>
            <a:r>
              <a:rPr lang="en-US" sz="1100" dirty="0">
                <a:solidFill>
                  <a:srgbClr val="0A1628"/>
                </a:solidFill>
              </a:rPr>
              <a:t>Threat Scope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Description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412480" y="0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0B4D8"/>
                </a:solidFill>
              </a:rPr>
              <a:t>03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196596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60120"/>
            <a:ext cx="1965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</a:rPr>
              <a:t>125,973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Total Records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68880" y="868680"/>
            <a:ext cx="196596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960120"/>
            <a:ext cx="1965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9E0B"/>
                </a:solidFill>
              </a:rPr>
              <a:t>41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468880" y="141732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Base Features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011680"/>
            <a:ext cx="196596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2103120"/>
            <a:ext cx="1965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0B981"/>
                </a:solidFill>
              </a:rPr>
              <a:t>67,343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0040" y="256032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Normal Traffic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468880" y="2011680"/>
            <a:ext cx="196596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68880" y="2103120"/>
            <a:ext cx="1965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F4444"/>
                </a:solidFill>
              </a:rPr>
              <a:t>58,630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2468880" y="256032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Attack Traffic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54680"/>
            <a:ext cx="196596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3246120"/>
            <a:ext cx="1965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9333EA"/>
                </a:solidFill>
              </a:rPr>
              <a:t>5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320040" y="370332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Attack Categories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468880" y="3154680"/>
            <a:ext cx="196596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68880" y="3246120"/>
            <a:ext cx="1965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4748B"/>
                </a:solidFill>
              </a:rPr>
              <a:t>0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2468880" y="370332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Missing Values</a:t>
            </a:r>
            <a:endParaRPr lang="en-US" sz="1100" dirty="0"/>
          </a:p>
        </p:txBody>
      </p:sp>
      <p:pic>
        <p:nvPicPr>
          <p:cNvPr id="23" name="Image 0" descr="/home/claude/fig1_label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822960"/>
            <a:ext cx="4343400" cy="228600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4572000" y="3246120"/>
            <a:ext cx="4343400" cy="1737360"/>
          </a:xfrm>
          <a:prstGeom prst="rect">
            <a:avLst/>
          </a:prstGeom>
          <a:solidFill>
            <a:srgbClr val="0A162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09160" y="3310128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</a:rPr>
              <a:t>Feature Categories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709160" y="3657600"/>
            <a:ext cx="4069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Basic (9): Duration, src/dst bytes, protocol type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4709160" y="3913632"/>
            <a:ext cx="4069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Content (13): Login attempts, root shells, compromised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709160" y="4169664"/>
            <a:ext cx="4069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Time-based traffic (9): Count, serror/rerror rates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4709160" y="4425696"/>
            <a:ext cx="4069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Host-based traffic (10): Dst_host_srv_count, same_srv_rate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4709160" y="4681728"/>
            <a:ext cx="4069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Engineered (+4): bytes_ratio, total_bytes, error_rate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20040" y="4572000"/>
            <a:ext cx="4251960" cy="457200"/>
          </a:xfrm>
          <a:prstGeom prst="rect">
            <a:avLst/>
          </a:prstGeom>
          <a:solidFill>
            <a:srgbClr val="E2EDF7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11480" y="45720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Source: NSL-KDD Benchmark Dataset (UCI / Canadian Institute)  |  Target: binary_label (0=Normal, 1=Attack)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412480" y="0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0B4D8"/>
                </a:solidFill>
              </a:rPr>
              <a:t>04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92608" y="841248"/>
            <a:ext cx="274320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950976"/>
            <a:ext cx="420624" cy="42062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95097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86968" y="950976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4"/>
                </a:solidFill>
              </a:rPr>
              <a:t>Data Cleaning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2336" y="1408176"/>
            <a:ext cx="254203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missing values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duplicates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Drop: label, difficulty_level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36976" y="841248"/>
            <a:ext cx="274320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46704" y="950976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46704" y="95097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31336" y="950976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4"/>
                </a:solidFill>
              </a:rPr>
              <a:t>One-Hot Encoding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46704" y="1408176"/>
            <a:ext cx="254203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protocol_type (3)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(70+)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(11) → OHE with drop_first=True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81344" y="841248"/>
            <a:ext cx="274320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91072" y="950976"/>
            <a:ext cx="420624" cy="420624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95097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775704" y="950976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4"/>
                </a:solidFill>
              </a:rPr>
              <a:t>Feature Engineering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91072" y="1408176"/>
            <a:ext cx="254203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bytes_ratio = src/dst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total_bytes = src+dst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error_rate, srv_error_rate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92608" y="2871216"/>
            <a:ext cx="274320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" y="2980944"/>
            <a:ext cx="420624" cy="42062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2336" y="29809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86968" y="2980944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4"/>
                </a:solidFill>
              </a:rPr>
              <a:t>Train-Test Split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02336" y="3438144"/>
            <a:ext cx="254203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Stratified split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100,777 train  |  25,195 test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state = 42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36976" y="2871216"/>
            <a:ext cx="274320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46704" y="2980944"/>
            <a:ext cx="420624" cy="420624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46704" y="29809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831336" y="2980944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4"/>
                </a:solidFill>
              </a:rPr>
              <a:t>StandardScaler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346704" y="3438144"/>
            <a:ext cx="254203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ONLY on X_train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X_train &amp; X_test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data leakage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81344" y="2871216"/>
            <a:ext cx="274320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91072" y="2980944"/>
            <a:ext cx="420624" cy="42062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91072" y="29809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775704" y="2980944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4"/>
                </a:solidFill>
              </a:rPr>
              <a:t>SMOTE Oversampling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291072" y="3438144"/>
            <a:ext cx="254203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k_neighbors=5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Minority class oversampling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TRAINING set only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412480" y="0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0B4D8"/>
                </a:solidFill>
              </a:rPr>
              <a:t>05</a:t>
            </a:r>
            <a:endParaRPr lang="en-US" sz="2800" dirty="0"/>
          </a:p>
        </p:txBody>
      </p:sp>
      <p:pic>
        <p:nvPicPr>
          <p:cNvPr id="5" name="Image 0" descr="/home/claude/fig2_eda_categor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777240"/>
            <a:ext cx="5303520" cy="1874520"/>
          </a:xfrm>
          <a:prstGeom prst="rect">
            <a:avLst/>
          </a:prstGeom>
        </p:spPr>
      </p:pic>
      <p:pic>
        <p:nvPicPr>
          <p:cNvPr id="6" name="Image 1" descr="/home/claude/fig4c_boxplots_by_categ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777240"/>
            <a:ext cx="3383280" cy="1874520"/>
          </a:xfrm>
          <a:prstGeom prst="rect">
            <a:avLst/>
          </a:prstGeom>
        </p:spPr>
      </p:pic>
      <p:pic>
        <p:nvPicPr>
          <p:cNvPr id="7" name="Image 2" descr="/home/claude/fig3_feature_distribu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2788920"/>
            <a:ext cx="5303520" cy="2011680"/>
          </a:xfrm>
          <a:prstGeom prst="rect">
            <a:avLst/>
          </a:prstGeom>
        </p:spPr>
      </p:pic>
      <p:pic>
        <p:nvPicPr>
          <p:cNvPr id="8" name="Image 3" descr="/home/claude/fig4_correlation_heat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7840" y="2788920"/>
            <a:ext cx="3383280" cy="2011680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274320" y="2633472"/>
            <a:ext cx="5212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Attack Category &amp; Protocol Distribution</a:t>
            </a:r>
            <a:endParaRPr lang="en-US" sz="900" dirty="0"/>
          </a:p>
        </p:txBody>
      </p:sp>
      <p:sp>
        <p:nvSpPr>
          <p:cNvPr id="10" name="Text 4"/>
          <p:cNvSpPr/>
          <p:nvPr/>
        </p:nvSpPr>
        <p:spPr>
          <a:xfrm>
            <a:off x="5577840" y="2633472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Feature Distribution by Category</a:t>
            </a:r>
            <a:endParaRPr lang="en-US" sz="900" dirty="0"/>
          </a:p>
        </p:txBody>
      </p:sp>
      <p:sp>
        <p:nvSpPr>
          <p:cNvPr id="11" name="Text 5"/>
          <p:cNvSpPr/>
          <p:nvPr/>
        </p:nvSpPr>
        <p:spPr>
          <a:xfrm>
            <a:off x="274320" y="4773168"/>
            <a:ext cx="5212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Numeric Feature Distributions: Normal vs Attack</a:t>
            </a:r>
            <a:endParaRPr lang="en-US" sz="900" dirty="0"/>
          </a:p>
        </p:txBody>
      </p:sp>
      <p:sp>
        <p:nvSpPr>
          <p:cNvPr id="12" name="Text 6"/>
          <p:cNvSpPr/>
          <p:nvPr/>
        </p:nvSpPr>
        <p:spPr>
          <a:xfrm>
            <a:off x="5577840" y="477316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Feature Correlation Heatmap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412480" y="0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0B4D8"/>
                </a:solidFill>
              </a:rPr>
              <a:t>06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1508760" cy="6858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04672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NSL-KDD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Dataset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783080" y="1069848"/>
            <a:ext cx="228600" cy="15544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804672"/>
            <a:ext cx="1508760" cy="68580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11680" y="804672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EDA +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Preprocessing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20440" y="1069848"/>
            <a:ext cx="228600" cy="15544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49040" y="804672"/>
            <a:ext cx="1508760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49040" y="804672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SMOTE +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5-Fold CV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257800" y="1069848"/>
            <a:ext cx="228600" cy="15544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804672"/>
            <a:ext cx="1508760" cy="685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0" y="804672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Model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Training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995160" y="1069848"/>
            <a:ext cx="228600" cy="15544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23760" y="804672"/>
            <a:ext cx="1508760" cy="6858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23760" y="804672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Evaluation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+ SHAP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56032" y="1627632"/>
            <a:ext cx="2834640" cy="3310128"/>
          </a:xfrm>
          <a:prstGeom prst="rect">
            <a:avLst/>
          </a:prstGeom>
          <a:solidFill>
            <a:srgbClr val="FFFFFF"/>
          </a:solidFill>
          <a:ln w="10160">
            <a:solidFill>
              <a:srgbClr val="6474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6032" y="1627632"/>
            <a:ext cx="2834640" cy="3200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" y="162763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Supervised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7472" y="1993392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44"/>
                </a:solidFill>
              </a:rPr>
              <a:t>Random Forest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65760" y="2404872"/>
            <a:ext cx="146304" cy="14630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2368296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</a:rPr>
              <a:t>n_estimators=100, max_depth=20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5760" y="2752344"/>
            <a:ext cx="146304" cy="14630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2715768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</a:rPr>
              <a:t>class_weight='balanced'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5760" y="3099816"/>
            <a:ext cx="146304" cy="14630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063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</a:rPr>
              <a:t>Trained on SMOTE data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65760" y="3447288"/>
            <a:ext cx="146304" cy="14630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341071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</a:rPr>
              <a:t>Bootstrap aggregation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3794760"/>
            <a:ext cx="146304" cy="14630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3758184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</a:rPr>
              <a:t>Natural feature importance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9184" y="4206240"/>
            <a:ext cx="2688336" cy="658368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224528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Robust ensemble; handles high-dimensional mixed features; resistant to overfitting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27832" y="1627632"/>
            <a:ext cx="2834640" cy="3310128"/>
          </a:xfrm>
          <a:prstGeom prst="rect">
            <a:avLst/>
          </a:prstGeom>
          <a:solidFill>
            <a:srgbClr val="FFFFFF"/>
          </a:solidFill>
          <a:ln w="10160">
            <a:solidFill>
              <a:srgbClr val="64748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27832" y="1627632"/>
            <a:ext cx="2834640" cy="320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27832" y="162763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Supervised + Optuna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319272" y="1993392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44"/>
                </a:solidFill>
              </a:rPr>
              <a:t>XGBoost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337560" y="240487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538728" y="2368296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</a:rPr>
              <a:t>30 Optuna TPE trials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337560" y="2752344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38728" y="2715768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</a:rPr>
              <a:t>L1/L2 regularization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337560" y="3099816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538728" y="3063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</a:rPr>
              <a:t>scale_pos_weight tuned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337560" y="3447288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538728" y="341071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</a:rPr>
              <a:t>eval_metric: logloss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337560" y="3794760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538728" y="3758184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</a:rPr>
              <a:t>Trained on SMOTE data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300984" y="4206240"/>
            <a:ext cx="2688336" cy="658368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337560" y="4224528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State-of-the-art tabular ML; gradient boosting with 2nd-order gradients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199632" y="1627632"/>
            <a:ext cx="2834640" cy="3310128"/>
          </a:xfrm>
          <a:prstGeom prst="rect">
            <a:avLst/>
          </a:prstGeom>
          <a:solidFill>
            <a:srgbClr val="FFFFFF"/>
          </a:solidFill>
          <a:ln w="10160">
            <a:solidFill>
              <a:srgbClr val="64748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199632" y="1627632"/>
            <a:ext cx="2834640" cy="32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99632" y="162763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Unsupervised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291072" y="1993392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44"/>
                </a:solidFill>
              </a:rPr>
              <a:t>Isolation Forest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309360" y="2404872"/>
            <a:ext cx="146304" cy="14630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10528" y="2368296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</a:rPr>
              <a:t>contamination=0.46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309360" y="2752344"/>
            <a:ext cx="146304" cy="14630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10528" y="2715768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</a:rPr>
              <a:t>n_estimators=100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309360" y="3099816"/>
            <a:ext cx="146304" cy="14630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10528" y="3063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</a:rPr>
              <a:t>Anomaly scoring via tree depth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6309360" y="3447288"/>
            <a:ext cx="146304" cy="14630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10528" y="341071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</a:rPr>
              <a:t>No labels required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6309360" y="3794760"/>
            <a:ext cx="146304" cy="14630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10528" y="3758184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</a:rPr>
              <a:t>Zero-day detection capable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6272784" y="4206240"/>
            <a:ext cx="2688336" cy="658368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09360" y="4224528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Detects novel/unknown attacks without supervision; useful baseline for unlabeled traffic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Evaluation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412480" y="0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0B4D8"/>
                </a:solidFill>
              </a:rPr>
              <a:t>07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56032" y="777240"/>
            <a:ext cx="1920240" cy="38404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77724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B4D8"/>
                </a:solidFill>
              </a:rPr>
              <a:t>Model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176272" y="777240"/>
            <a:ext cx="1417320" cy="38404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76272" y="77724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B4D8"/>
                </a:solidFill>
              </a:rPr>
              <a:t>Accuracy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93592" y="777240"/>
            <a:ext cx="1417320" cy="38404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3592" y="77724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B4D8"/>
                </a:solidFill>
              </a:rPr>
              <a:t>Precision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10912" y="777240"/>
            <a:ext cx="1417320" cy="38404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10912" y="77724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B4D8"/>
                </a:solidFill>
              </a:rPr>
              <a:t>Recall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28232" y="777240"/>
            <a:ext cx="1417320" cy="38404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28232" y="77724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B4D8"/>
                </a:solidFill>
              </a:rPr>
              <a:t>F1-Score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662672" y="777240"/>
            <a:ext cx="1234440" cy="38404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62672" y="777240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B4D8"/>
                </a:solidFill>
              </a:rPr>
              <a:t>ROC-AUC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56032" y="1161288"/>
            <a:ext cx="1920240" cy="365760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" y="116128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E44"/>
                </a:solidFill>
              </a:rPr>
              <a:t>Random Forest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176272" y="1161288"/>
            <a:ext cx="1417320" cy="365760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76272" y="1161288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2E44"/>
                </a:solidFill>
              </a:rPr>
              <a:t>99.90%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593592" y="1161288"/>
            <a:ext cx="1417320" cy="365760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93592" y="1161288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2E44"/>
                </a:solidFill>
              </a:rPr>
              <a:t>1.00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010912" y="1161288"/>
            <a:ext cx="1417320" cy="365760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10912" y="1161288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2E44"/>
                </a:solidFill>
              </a:rPr>
              <a:t>1.00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28232" y="1161288"/>
            <a:ext cx="1417320" cy="365760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28232" y="1161288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2E44"/>
                </a:solidFill>
              </a:rPr>
              <a:t>0.9989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662672" y="1161288"/>
            <a:ext cx="1234440" cy="365760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62672" y="1161288"/>
            <a:ext cx="1234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2E44"/>
                </a:solidFill>
              </a:rPr>
              <a:t>1.0000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256032" y="1545336"/>
            <a:ext cx="1920240" cy="36576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6032" y="1545336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</a:rPr>
              <a:t>XGBoost ⭐ Best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176272" y="1545336"/>
            <a:ext cx="1417320" cy="36576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76272" y="1545336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B981"/>
                </a:solidFill>
              </a:rPr>
              <a:t>99.93%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3593592" y="1545336"/>
            <a:ext cx="1417320" cy="36576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593592" y="1545336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B981"/>
                </a:solidFill>
              </a:rPr>
              <a:t>1.00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010912" y="1545336"/>
            <a:ext cx="1417320" cy="36576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10912" y="1545336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B981"/>
                </a:solidFill>
              </a:rPr>
              <a:t>1.00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28232" y="1545336"/>
            <a:ext cx="1417320" cy="36576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1545336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B981"/>
                </a:solidFill>
              </a:rPr>
              <a:t>0.9992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7662672" y="1545336"/>
            <a:ext cx="1234440" cy="36576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62672" y="1545336"/>
            <a:ext cx="1234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B981"/>
                </a:solidFill>
              </a:rPr>
              <a:t>1.0000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256032" y="1929384"/>
            <a:ext cx="1920240" cy="36576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6032" y="192938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E44"/>
                </a:solidFill>
              </a:rPr>
              <a:t>Isolation Forest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2176272" y="1929384"/>
            <a:ext cx="1417320" cy="36576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76272" y="1929384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2E44"/>
                </a:solidFill>
              </a:rPr>
              <a:t>59.93%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3593592" y="1929384"/>
            <a:ext cx="1417320" cy="36576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593592" y="1929384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2E44"/>
                </a:solidFill>
              </a:rPr>
              <a:t>0.57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5010912" y="1929384"/>
            <a:ext cx="1417320" cy="36576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10912" y="1929384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2E44"/>
                </a:solidFill>
              </a:rPr>
              <a:t>0.57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6428232" y="1929384"/>
            <a:ext cx="1417320" cy="36576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28232" y="1929384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2E44"/>
                </a:solidFill>
              </a:rPr>
              <a:t>0.57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7662672" y="1929384"/>
            <a:ext cx="1234440" cy="36576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62672" y="1929384"/>
            <a:ext cx="1234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2E44"/>
                </a:solidFill>
              </a:rPr>
              <a:t>0.597</a:t>
            </a:r>
            <a:endParaRPr lang="en-US" sz="1250" dirty="0"/>
          </a:p>
        </p:txBody>
      </p:sp>
      <p:pic>
        <p:nvPicPr>
          <p:cNvPr id="53" name="Image 0" descr="/home/claude/fig5_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304288"/>
            <a:ext cx="4800600" cy="1572768"/>
          </a:xfrm>
          <a:prstGeom prst="rect">
            <a:avLst/>
          </a:prstGeom>
        </p:spPr>
      </p:pic>
      <p:pic>
        <p:nvPicPr>
          <p:cNvPr id="54" name="Image 1" descr="/home/claude/fig6_roc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2304288"/>
            <a:ext cx="3767328" cy="1572768"/>
          </a:xfrm>
          <a:prstGeom prst="rect">
            <a:avLst/>
          </a:prstGeom>
        </p:spPr>
      </p:pic>
      <p:sp>
        <p:nvSpPr>
          <p:cNvPr id="55" name="Text 51"/>
          <p:cNvSpPr/>
          <p:nvPr/>
        </p:nvSpPr>
        <p:spPr>
          <a:xfrm>
            <a:off x="256032" y="3886200"/>
            <a:ext cx="4800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Confusion Matrices — All Models</a:t>
            </a:r>
            <a:endParaRPr lang="en-US" sz="900" dirty="0"/>
          </a:p>
        </p:txBody>
      </p:sp>
      <p:sp>
        <p:nvSpPr>
          <p:cNvPr id="56" name="Text 52"/>
          <p:cNvSpPr/>
          <p:nvPr/>
        </p:nvSpPr>
        <p:spPr>
          <a:xfrm>
            <a:off x="5166360" y="3886200"/>
            <a:ext cx="3767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ROC Curves &amp; Performance Comparison</a:t>
            </a:r>
            <a:endParaRPr lang="en-US" sz="900" dirty="0"/>
          </a:p>
        </p:txBody>
      </p:sp>
      <p:pic>
        <p:nvPicPr>
          <p:cNvPr id="57" name="Image 2" descr="/home/claude/fig10_multiclass_c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032" y="4114800"/>
            <a:ext cx="4114800" cy="987552"/>
          </a:xfrm>
          <a:prstGeom prst="rect">
            <a:avLst/>
          </a:prstGeom>
        </p:spPr>
      </p:pic>
      <p:sp>
        <p:nvSpPr>
          <p:cNvPr id="58" name="Text 53"/>
          <p:cNvSpPr/>
          <p:nvPr/>
        </p:nvSpPr>
        <p:spPr>
          <a:xfrm>
            <a:off x="256032" y="5074920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Multi-class Attack Category Classification (RF)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4480560" y="4114800"/>
            <a:ext cx="4434840" cy="987552"/>
          </a:xfrm>
          <a:prstGeom prst="rect">
            <a:avLst/>
          </a:prstGeom>
          <a:solidFill>
            <a:srgbClr val="0A162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4572000" y="4133088"/>
            <a:ext cx="42062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XGBoost achieves 99.93% accuracy
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Near-perfect ROC-AUC = 1.0000 on binary classification
</a:t>
            </a: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Multi-class XGBoost correctly classifies DoS (9185/9186), Normal (13465), Probe (2313/2331), R2L (197/199), U2R (9/10)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with Existing 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412480" y="0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0B4D8"/>
                </a:solidFill>
              </a:rPr>
              <a:t>08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56032" y="822960"/>
            <a:ext cx="8641080" cy="749808"/>
          </a:xfrm>
          <a:prstGeom prst="rect">
            <a:avLst/>
          </a:prstGeom>
          <a:solidFill>
            <a:srgbClr val="0F2744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41248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B4D8"/>
                </a:solidFill>
              </a:rPr>
              <a:t>📄  Reference: Tavallaee et al. (2009) — 'A Detailed Analysis of the KDD CUP 99 Data Set'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11480" y="1161288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NSL-KDD was introduced to fix duplication in KDD'99. Standard benchmark for NIDS evaluation.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" y="1691640"/>
            <a:ext cx="2377440" cy="38404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6916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Approach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33472" y="1691640"/>
            <a:ext cx="2331720" cy="38404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33472" y="169164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Model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965192" y="1691640"/>
            <a:ext cx="1051560" cy="38404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192" y="1691640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Accuracy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16752" y="1691640"/>
            <a:ext cx="1051560" cy="38404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16752" y="1691640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F1-Score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068312" y="1691640"/>
            <a:ext cx="1463040" cy="38404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8312" y="169164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Explainability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56032" y="2075688"/>
            <a:ext cx="2377440" cy="402336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2075688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44"/>
                </a:solidFill>
              </a:rPr>
              <a:t>Baseline (KDD'99 era)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633472" y="2075688"/>
            <a:ext cx="2331720" cy="402336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2075688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44"/>
                </a:solidFill>
              </a:rPr>
              <a:t>Decision Tree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65192" y="2075688"/>
            <a:ext cx="1051560" cy="402336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10912" y="2075688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E44"/>
                </a:solidFill>
              </a:rPr>
              <a:t>~92-94%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16752" y="2075688"/>
            <a:ext cx="1051560" cy="402336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62472" y="2075688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E44"/>
                </a:solidFill>
              </a:rPr>
              <a:t>~0.91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068312" y="2075688"/>
            <a:ext cx="1463040" cy="402336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14032" y="2075688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E44"/>
                </a:solidFill>
              </a:rPr>
              <a:t>None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56032" y="249631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1752" y="2496312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44"/>
                </a:solidFill>
              </a:rPr>
              <a:t>Revathi &amp; Malathi (2012)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633472" y="2496312"/>
            <a:ext cx="23317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9192" y="2496312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44"/>
                </a:solidFill>
              </a:rPr>
              <a:t>Enhanced SVM + Feature Sel.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965192" y="2496312"/>
            <a:ext cx="105156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10912" y="2496312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E44"/>
                </a:solidFill>
              </a:rPr>
              <a:t>~97.5%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016752" y="2496312"/>
            <a:ext cx="105156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62472" y="2496312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E44"/>
                </a:solidFill>
              </a:rPr>
              <a:t>~0.96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068312" y="2496312"/>
            <a:ext cx="14630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14032" y="2496312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E44"/>
                </a:solidFill>
              </a:rPr>
              <a:t>None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56032" y="2916936"/>
            <a:ext cx="2377440" cy="402336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1752" y="2916936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44"/>
                </a:solidFill>
              </a:rPr>
              <a:t>Yin et al. (2017)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633472" y="2916936"/>
            <a:ext cx="2331720" cy="402336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79192" y="2916936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44"/>
                </a:solidFill>
              </a:rPr>
              <a:t>Recurrent Neural Network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965192" y="2916936"/>
            <a:ext cx="1051560" cy="402336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10912" y="2916936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E44"/>
                </a:solidFill>
              </a:rPr>
              <a:t>~98.3%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016752" y="2916936"/>
            <a:ext cx="1051560" cy="402336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62472" y="2916936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E44"/>
                </a:solidFill>
              </a:rPr>
              <a:t>~0.98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068312" y="2916936"/>
            <a:ext cx="1463040" cy="402336"/>
          </a:xfrm>
          <a:prstGeom prst="rect">
            <a:avLst/>
          </a:prstGeom>
          <a:solidFill>
            <a:srgbClr val="E2EDF7"/>
          </a:solidFill>
          <a:ln w="12700">
            <a:solidFill>
              <a:srgbClr val="E2EDF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14032" y="2916936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E44"/>
                </a:solidFill>
              </a:rPr>
              <a:t>None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56032" y="3337560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1752" y="3337560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44"/>
                </a:solidFill>
              </a:rPr>
              <a:t>Farnaaz &amp; Jabbar (2016)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2633472" y="3337560"/>
            <a:ext cx="23317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79192" y="3337560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44"/>
                </a:solidFill>
              </a:rPr>
              <a:t>Random Forest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965192" y="3337560"/>
            <a:ext cx="105156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10912" y="3337560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E44"/>
                </a:solidFill>
              </a:rPr>
              <a:t>~99.2%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016752" y="3337560"/>
            <a:ext cx="105156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062472" y="3337560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E44"/>
                </a:solidFill>
              </a:rPr>
              <a:t>~0.99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068312" y="3337560"/>
            <a:ext cx="14630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14032" y="3337560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E44"/>
                </a:solidFill>
              </a:rPr>
              <a:t>Gini Impurity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56032" y="3758184"/>
            <a:ext cx="2377440" cy="402336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01752" y="3758184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0B981"/>
                </a:solidFill>
              </a:rPr>
              <a:t>Ours — XGBoost (Optuna-tuned)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2633472" y="3758184"/>
            <a:ext cx="2331720" cy="402336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679192" y="3758184"/>
            <a:ext cx="2240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0B981"/>
                </a:solidFill>
              </a:rPr>
              <a:t>XGBoost + SHAP + SMOTE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4965192" y="3758184"/>
            <a:ext cx="1051560" cy="402336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010912" y="3758184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B981"/>
                </a:solidFill>
              </a:rPr>
              <a:t>99.93% ⭐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6016752" y="3758184"/>
            <a:ext cx="1051560" cy="402336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062472" y="3758184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B981"/>
                </a:solidFill>
              </a:rPr>
              <a:t>0.9992 ⭐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7068312" y="3758184"/>
            <a:ext cx="1463040" cy="402336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114032" y="3758184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B981"/>
                </a:solidFill>
              </a:rPr>
              <a:t>SHAP Values ⭐</a:t>
            </a:r>
            <a:endParaRPr lang="en-US" sz="1150" dirty="0"/>
          </a:p>
        </p:txBody>
      </p:sp>
      <p:pic>
        <p:nvPicPr>
          <p:cNvPr id="68" name="Image 0" descr="/home/claude/fig8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4206240"/>
            <a:ext cx="8641080" cy="914400"/>
          </a:xfrm>
          <a:prstGeom prst="rect">
            <a:avLst/>
          </a:prstGeom>
        </p:spPr>
      </p:pic>
      <p:sp>
        <p:nvSpPr>
          <p:cNvPr id="69" name="Text 66"/>
          <p:cNvSpPr/>
          <p:nvPr/>
        </p:nvSpPr>
        <p:spPr>
          <a:xfrm>
            <a:off x="256032" y="5102352"/>
            <a:ext cx="8641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Feature Importance Comparison: Random Forest vs XGBoost — top features align with domain knowledge (traffic volume, service type)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Challenges, Limitations &amp; Future 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412480" y="0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0B4D8"/>
                </a:solidFill>
              </a:rPr>
              <a:t>09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4320" y="82296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44"/>
                </a:solidFill>
              </a:rPr>
              <a:t>Challenges Faced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207008"/>
            <a:ext cx="73152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20700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44"/>
                </a:solidFill>
              </a:rPr>
              <a:t>Class Imbalance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38912" y="1444752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U2R/R2L &lt; 1% → required SMOTE; even then rare attacks are hard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865376"/>
            <a:ext cx="73152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186537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44"/>
                </a:solidFill>
              </a:rPr>
              <a:t>Feature Explosion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38912" y="21031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OHE on 70+ services expanded feature space to 122+ columns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523744"/>
            <a:ext cx="73152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252374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44"/>
                </a:solidFill>
              </a:rPr>
              <a:t>Optuna Compute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38912" y="27614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30 Bayesian trials take significant time on full 100K dataset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3182112"/>
            <a:ext cx="73152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318211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44"/>
                </a:solidFill>
              </a:rPr>
              <a:t>Isolation Forest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38912" y="3419856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Contamination parameter is hard to set without label info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3840480"/>
            <a:ext cx="73152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" y="38404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44"/>
                </a:solidFill>
              </a:rPr>
              <a:t>SHAP Computation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38912" y="4078224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Tree-SHAP on 100K samples requires careful memory management</a:t>
            </a:r>
            <a:endParaRPr lang="en-US" sz="1100" dirty="0"/>
          </a:p>
        </p:txBody>
      </p:sp>
      <p:pic>
        <p:nvPicPr>
          <p:cNvPr id="21" name="Image 0" descr="/home/claude/fig_shap_waterf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795528"/>
            <a:ext cx="4343400" cy="251460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526280" y="329184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SHAP Waterfall — single attack prediction explanation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26280" y="3547872"/>
            <a:ext cx="4343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44"/>
                </a:solidFill>
              </a:rPr>
              <a:t>Future Improvements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572000" y="3959352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00600" y="393192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44"/>
                </a:solidFill>
              </a:rPr>
              <a:t>Real-time streaming detection (Apache Kafka + Flink)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0" y="4178808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800600" y="4151376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44"/>
                </a:solidFill>
              </a:rPr>
              <a:t>Deep learning: 1D-CNN or Transformer on traffic sequences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0" y="4398264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00600" y="4370832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44"/>
                </a:solidFill>
              </a:rPr>
              <a:t>Federated learning across distributed network nodes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0" y="4617720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800600" y="4590288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44"/>
                </a:solidFill>
              </a:rPr>
              <a:t>Adversarial robustness testing against evasion attacks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0" y="4837176"/>
            <a:ext cx="164592" cy="164592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800600" y="480974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44"/>
                </a:solidFill>
              </a:rPr>
              <a:t>Test on CICIDS-2017 / UNSW-NB15 for generalization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256032" y="4709160"/>
            <a:ext cx="4114800" cy="384048"/>
          </a:xfrm>
          <a:prstGeom prst="rect">
            <a:avLst/>
          </a:prstGeom>
          <a:solidFill>
            <a:srgbClr val="FEF9C3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92608" y="4709160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8350F"/>
                </a:solidFill>
              </a:rPr>
              <a:t>⚠️  Dataset Limitation: NSL-KDD is from 1999 — modern attacks like ransomware, APT, cryptojacking are absent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Key Findings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B4D8"/>
                </a:solidFill>
              </a:rPr>
              <a:t>10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1920240" cy="822960"/>
          </a:xfrm>
          <a:prstGeom prst="rect">
            <a:avLst/>
          </a:prstGeom>
          <a:solidFill>
            <a:srgbClr val="0F2744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05156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</a:rPr>
              <a:t>99.93%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20040" y="14630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XGBoost Accuracy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68880" y="1005840"/>
            <a:ext cx="1920240" cy="822960"/>
          </a:xfrm>
          <a:prstGeom prst="rect">
            <a:avLst/>
          </a:prstGeom>
          <a:solidFill>
            <a:srgbClr val="0F2744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105156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</a:rPr>
              <a:t>1.0000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68880" y="14630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ROC-AUC Score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17720" y="1005840"/>
            <a:ext cx="1920240" cy="822960"/>
          </a:xfrm>
          <a:prstGeom prst="rect">
            <a:avLst/>
          </a:prstGeom>
          <a:solidFill>
            <a:srgbClr val="0F2744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05156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0B981"/>
                </a:solidFill>
              </a:rPr>
              <a:t>0.9992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617720" y="14630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F1-Score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6560" y="1005840"/>
            <a:ext cx="1920240" cy="822960"/>
          </a:xfrm>
          <a:prstGeom prst="rect">
            <a:avLst/>
          </a:prstGeom>
          <a:solidFill>
            <a:srgbClr val="0F2744"/>
          </a:solidFill>
          <a:ln w="25400">
            <a:solidFill>
              <a:srgbClr val="A78B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105156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A78BFA"/>
                </a:solidFill>
              </a:rPr>
              <a:t>5-Fold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766560" y="14630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Cross-Validation</a:t>
            </a:r>
            <a:endParaRPr lang="en-US" sz="1000" dirty="0"/>
          </a:p>
        </p:txBody>
      </p:sp>
      <p:pic>
        <p:nvPicPr>
          <p:cNvPr id="17" name="Image 0" descr="/home/claude/fig_shap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965960"/>
            <a:ext cx="3931920" cy="260604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365760" y="1938528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B4D8"/>
                </a:solidFill>
              </a:rPr>
              <a:t>Summary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84048" y="2331720"/>
            <a:ext cx="64008" cy="2560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21208" y="2304288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(Optuna-tuned) achieves near-perfect detection with 99.93% accuracy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84048" y="2679192"/>
            <a:ext cx="64008" cy="2560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21208" y="2651760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identifies src_bytes &amp; total_bytes as dominant features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384048" y="3026664"/>
            <a:ext cx="64008" cy="2560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21208" y="2999232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critical for rare U2R/R2L attack recall — false negatives reduced by ~70%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384048" y="3374136"/>
            <a:ext cx="64008" cy="2560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21208" y="3346704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(unsupervised) provides zero-day threat hunting capability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384048" y="3721608"/>
            <a:ext cx="64008" cy="2560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1208" y="3694176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cross-validation confirms robustness — minimal variance across splits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384048" y="4069080"/>
            <a:ext cx="64008" cy="2560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21208" y="4041648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RF correctly classifies all 5 attack categories with &gt;99% accuracy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CS361 – Data Science Lab  |  SVNIT Surat  |  NSL-KDD NIDS Project  |  Jan–June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1067</Words>
  <Application>Microsoft Office PowerPoint</Application>
  <PresentationFormat>On-screen Show (16:9)</PresentationFormat>
  <Paragraphs>249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Intrusion Detection System</dc:title>
  <dc:subject>PptxGenJS Presentation</dc:subject>
  <dc:creator>CS361 – Data Science Lab, SVNIT Surat</dc:creator>
  <cp:lastModifiedBy>vraj vaghela</cp:lastModifiedBy>
  <cp:revision>2</cp:revision>
  <dcterms:created xsi:type="dcterms:W3CDTF">2026-04-19T18:52:52Z</dcterms:created>
  <dcterms:modified xsi:type="dcterms:W3CDTF">2026-04-19T19:04:15Z</dcterms:modified>
</cp:coreProperties>
</file>