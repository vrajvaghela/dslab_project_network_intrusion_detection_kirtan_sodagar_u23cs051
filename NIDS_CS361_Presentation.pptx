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45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73152"/>
            <a:ext cx="905256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2907792"/>
            <a:ext cx="9052560" cy="182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486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SYSTEM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7160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Malicious Traffic using ML Classification &amp; Anomaly Detection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71600" y="1828800"/>
            <a:ext cx="59436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CS361 – Data Science Lab Project  |  SVNIT Surat  |  Jan–June 2026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0584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Benchmark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91840" y="3154680"/>
            <a:ext cx="2743200" cy="13716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91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3192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93192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XGBoost · IsoForest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17920" y="3154680"/>
            <a:ext cx="2743200" cy="13716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91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580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Security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347472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78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89888"/>
            <a:ext cx="347472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4630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networks carry billions of packets daily — manual inspection is infeasible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attacks exploit unknown vulnerabilities with no prior signature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signature-based IDS fails on novel attack vectors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rare but devastating attacks (U2R, R2L) go undetected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868680"/>
            <a:ext cx="4251960" cy="347472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60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978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1389888"/>
            <a:ext cx="384048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14630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hybrid NIDS pipeline on NSL-KDD benchmark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 for known attacks: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(ensemble, class-balanced)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tuned via Optuna (30 Bayesian trials)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for zero-days: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trained only on normal traffic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via SHAP for analyst transparency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0040" y="4526280"/>
            <a:ext cx="1920240" cy="45720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125K+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2004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468880" y="4526280"/>
            <a:ext cx="1920240" cy="45720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6888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246888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17720" y="4526280"/>
            <a:ext cx="1920240" cy="45720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1772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461772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766560" y="4526280"/>
            <a:ext cx="1920240" cy="45720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4535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76656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NSL-KDD BENCHMARK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4023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78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389888"/>
            <a:ext cx="347472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630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NSL-KDD: Gold standard for NIDS research — corrects class duplication from KDD'99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125,973 labeled network connection records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values; zero duplicate rows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categorical features: protocol_type, service, flag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numeric features covering packet-level statistics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4114800"/>
            <a:ext cx="1660185" cy="1188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36257" y="411480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53.4%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" y="4279392"/>
            <a:ext cx="1122335" cy="1188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98407" y="42793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 36.1%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2920" y="4443984"/>
            <a:ext cx="261153" cy="118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7225" y="4443984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 8.4%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02920" y="4608576"/>
            <a:ext cx="137160" cy="1188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460857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  1.8%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2920" y="4773168"/>
            <a:ext cx="137160" cy="1188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477316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 0.3%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0" y="822960"/>
            <a:ext cx="2057400" cy="1920240"/>
          </a:xfrm>
          <a:prstGeom prst="rect">
            <a:avLst/>
          </a:prstGeom>
          <a:solidFill>
            <a:srgbClr val="132952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822960"/>
            <a:ext cx="20574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3268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74336" y="914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Features (9)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709160" y="12801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duration — connection duration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709160" y="15453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protocol_type — tcp/udp/icmp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709160" y="18105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service — destination service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4709160" y="20756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src_bytes, dst_bytes — payload size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709160" y="2340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flag — connection status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766560" y="822960"/>
            <a:ext cx="2057400" cy="1920240"/>
          </a:xfrm>
          <a:prstGeom prst="rect">
            <a:avLst/>
          </a:prstGeom>
          <a:solidFill>
            <a:srgbClr val="132952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766560" y="822960"/>
            <a:ext cx="20574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32688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168896" y="914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Features (13)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903720" y="12801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hot — hot indicator count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903720" y="15453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num_failed_logins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6903720" y="18105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logged_in status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903720" y="20756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num_compromised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903720" y="23408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num_root, num_file_creations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4572000" y="2971800"/>
            <a:ext cx="2057400" cy="1920240"/>
          </a:xfrm>
          <a:prstGeom prst="rect">
            <a:avLst/>
          </a:prstGeom>
          <a:solidFill>
            <a:srgbClr val="132952"/>
          </a:solidFill>
          <a:ln w="1270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572000" y="2971800"/>
            <a:ext cx="20574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81528"/>
            <a:ext cx="256032" cy="25603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974336" y="3063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Traffic (9)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709160" y="34290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count — same-host connections/2s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4709160" y="36941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srv_count — same-service/2s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4709160" y="39593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serror_rate — SYN error rate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4709160" y="42245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rerror_rate — REJ error rate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4709160" y="44897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same_srv_rate, diff_srv_rate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6766560" y="2971800"/>
            <a:ext cx="2057400" cy="1920240"/>
          </a:xfrm>
          <a:prstGeom prst="rect">
            <a:avLst/>
          </a:prstGeom>
          <a:solidFill>
            <a:srgbClr val="132952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6766560" y="2971800"/>
            <a:ext cx="20574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081528"/>
            <a:ext cx="256032" cy="256032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168896" y="3063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 Features (10)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6903720" y="34290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dst_host_count — same dest host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6903720" y="36941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dst_host_srv_count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6903720" y="39593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dst_host_same_srv_rate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6903720" y="42245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dst_host_serror_rate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6903720" y="44897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dst_host_rerror_rate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20040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326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344168"/>
            <a:ext cx="274320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1732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dominates protocol mix — most attacks ride TCP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(36%) &amp; Normal (53%) overwhelm rare R2L/U2R 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serror_rate &amp; rerror_rate spike sharply in DoS attacks — key discriminators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src_bytes distribution bimodal: near-zero (DoS floods) vs. large (exfiltration)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multicollinearity between dst_host_* features — targeted by feature engineering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scree plot: top 10 PCs explain &gt;85% variance — high dimensionality redundancy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749040" y="2926080"/>
            <a:ext cx="5166360" cy="1920240"/>
          </a:xfrm>
          <a:prstGeom prst="rect">
            <a:avLst/>
          </a:prstGeom>
          <a:solidFill>
            <a:srgbClr val="132952"/>
          </a:solidFill>
          <a:ln w="12700">
            <a:solidFill>
              <a:srgbClr val="7FB3D3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84048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  —  fig3_feature_distributions.png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840480" y="34747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9-panel histogram: Numeric Feature Distributions (Normal vs Attack)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on high-skew features (</a:t>
            </a:r>
            <a:r>
              <a:rPr lang="en-US" sz="900" i="1" dirty="0" err="1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src_bytes</a:t>
            </a: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i="1" dirty="0" err="1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dst_bytes</a:t>
            </a: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to reveal distribution shape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2FEFE09-F9D7-40A3-D374-91C383D23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822960"/>
            <a:ext cx="5166360" cy="19202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F09F8EF-A601-D478-7817-1B134CEBA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904526"/>
            <a:ext cx="5166360" cy="1941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164592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22960"/>
            <a:ext cx="1554480" cy="40690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22960"/>
            <a:ext cx="15544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914400"/>
            <a:ext cx="4572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" y="2011680"/>
            <a:ext cx="128016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848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bytes_ratio = src_bytes / (dst_bytes + 1)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error_rate = serror_rate + rerror_rate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6393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Captures exfiltration &amp; DoS in single metrics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828800"/>
            <a:ext cx="164592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822960"/>
            <a:ext cx="1554480" cy="4069080"/>
          </a:xfrm>
          <a:prstGeom prst="rect">
            <a:avLst/>
          </a:prstGeom>
          <a:solidFill>
            <a:srgbClr val="132952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822960"/>
            <a:ext cx="15544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2032" y="914400"/>
            <a:ext cx="4572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84832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(OHE)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30552" y="2011680"/>
            <a:ext cx="128016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0848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One-Hot Encoding for 3 categorical features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protocol_type (3) · service (70) · flag (11)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03120" y="36393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Prevents false ordinal relationships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03520" y="1828800"/>
            <a:ext cx="164592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0752" y="822960"/>
            <a:ext cx="1554480" cy="4069080"/>
          </a:xfrm>
          <a:prstGeom prst="rect">
            <a:avLst/>
          </a:prstGeom>
          <a:solidFill>
            <a:srgbClr val="132952"/>
          </a:solidFill>
          <a:ln w="1270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0752" y="822960"/>
            <a:ext cx="1554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914400"/>
            <a:ext cx="4572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22192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67912" y="2011680"/>
            <a:ext cx="128016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0848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80% Train  /  20% Test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0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Stratified split — preserves class ratios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0" y="36393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5-fold Stratified CV for robust evaluation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40880" y="1828800"/>
            <a:ext cx="164592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68112" y="822960"/>
            <a:ext cx="1554480" cy="4069080"/>
          </a:xfrm>
          <a:prstGeom prst="rect">
            <a:avLst/>
          </a:prstGeom>
          <a:solidFill>
            <a:srgbClr val="132952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68112" y="822960"/>
            <a:ext cx="155448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16752" y="914400"/>
            <a:ext cx="4572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59552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(StandardScaler)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05272" y="2011680"/>
            <a:ext cx="128016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20848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Z-score normalization on numeric features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77840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Fitted on train only — no data leakage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77840" y="36393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Essential for distance-based algorithms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05472" y="822960"/>
            <a:ext cx="1554480" cy="4069080"/>
          </a:xfrm>
          <a:prstGeom prst="rect">
            <a:avLst/>
          </a:prstGeom>
          <a:solidFill>
            <a:srgbClr val="132952"/>
          </a:solidFill>
          <a:ln w="12700">
            <a:solidFill>
              <a:srgbClr val="E6394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05472" y="822960"/>
            <a:ext cx="15544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54112" y="914400"/>
            <a:ext cx="4572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5411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96912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342632" y="2011680"/>
            <a:ext cx="128016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20848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Synthetic Minority Over-sampling Technique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0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Applied ONLY on training data (no leakage)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0" y="36393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U2R &amp; R2L count boosted from ~52 → balanced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6032" y="4937760"/>
            <a:ext cx="8631936" cy="91440"/>
          </a:xfrm>
          <a:prstGeom prst="rect">
            <a:avLst/>
          </a:prstGeom>
          <a:solidFill>
            <a:srgbClr val="0D2045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6576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SMOTE is applied exclusively to training data — test set remains unaugmented to reflect real-world distribution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3498D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886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515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1435608"/>
            <a:ext cx="146304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435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| Robust Baseline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2920" y="1801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1993392"/>
            <a:ext cx="37490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n_estimators = 100 decision trees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max_depth = 20 (controls overfitting)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min_samples_split = 5, min_samples_leaf =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class_weight = 'balanced' (handles imbalance natively)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30723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n_jobs = -1 (full parallelism)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3364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2920" y="3566160"/>
            <a:ext cx="37490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621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Resistant to overfitting via bagging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3831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non-linearity without preprocessing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0292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Provides MDI feature importances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0292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hyperparameter tuning required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709160" y="804672"/>
            <a:ext cx="416052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804672"/>
            <a:ext cx="41605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896112"/>
            <a:ext cx="457200" cy="4572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40680" y="886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544068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(Optuna)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892040" y="1435608"/>
            <a:ext cx="146304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92040" y="1435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| Best Performance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892040" y="1801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892040" y="1993392"/>
            <a:ext cx="37490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92040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Optuna: 30 Bayesian trials via Tree Parzen Estimator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89204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Search space: n_estimators, max_depth, learning_rate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89204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reg_alpha, reg_lambda, subsample, colsample_bytree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892040" y="2816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eval_metric = 'logloss' on held-out validation set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892040" y="30723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5-fold Stratified CV for reliable F1 estimation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892040" y="3364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4892040" y="3566160"/>
            <a:ext cx="37490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92040" y="3621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Sequential boosting corrects residual errors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4892040" y="3831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L1/L2 regularization prevents overfitting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89204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Optuna finds optimal hyperparameters efficiently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489204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Best-in-class F1 score on NSL-KDD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320040" y="49560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trained on SMOTE-balanced data  ·  Binary classification: Normal (0) vs Attack (1)  ·  80/20 stratified split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219456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IS CRITICAL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23774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cybersecurity, a False Negative (missed attack) is far more costly than a False Positive (false alarm).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TP / (TP + FN)</a:t>
            </a:r>
            <a:endParaRPr lang="en-US" sz="950" dirty="0"/>
          </a:p>
          <a:p>
            <a:pPr marL="0" indent="0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recall → minimizing undetected attacks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3108960"/>
            <a:ext cx="2743200" cy="18288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3502152"/>
            <a:ext cx="2688336" cy="18288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520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25880" y="35204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Forest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76272" y="35204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" y="3685032"/>
            <a:ext cx="2688336" cy="18288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703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25880" y="3703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~99.2%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76272" y="3703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~99.5%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867912"/>
            <a:ext cx="2688336" cy="18288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886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25880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~99.0%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76272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~99.3%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4050792"/>
            <a:ext cx="2688336" cy="18288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0690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25880" y="40690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~99.1%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76272" y="40690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~99.6%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4233672"/>
            <a:ext cx="2688336" cy="18288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51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25880" y="4251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~99.0%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76272" y="4251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~99.4%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4416552"/>
            <a:ext cx="2688336" cy="18288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434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25880" y="4434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~0.999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76272" y="4434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~0.9997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804672"/>
            <a:ext cx="2834640" cy="22402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37560" y="987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1261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fig6_roc_comparison.png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756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RF vs XGBoost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0.9997 for XGBoost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63640" y="804672"/>
            <a:ext cx="2606040" cy="2240280"/>
          </a:xfrm>
          <a:prstGeom prst="rect">
            <a:avLst/>
          </a:prstGeom>
          <a:solidFill>
            <a:srgbClr val="132952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55080" y="987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fig7_precision_recall.png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55080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AP score across thresholds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46120" y="3154680"/>
            <a:ext cx="5623560" cy="1737360"/>
          </a:xfrm>
          <a:prstGeom prst="rect">
            <a:avLst/>
          </a:prstGeom>
          <a:solidFill>
            <a:srgbClr val="132952"/>
          </a:solidFill>
          <a:ln w="12700">
            <a:solidFill>
              <a:srgbClr val="7FB3D3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337560" y="333756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  —  fig5_confusion_matrices.png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37560" y="36576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Confusion Matrices: Random Forest vs XGBoost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 Positives, False Positives, True Negatives, False Negatives)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E86AF60-BF4A-3E9F-9BDB-4A149A1C4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3164170"/>
            <a:ext cx="5650992" cy="177358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4911EE0-FDD0-9307-8D46-04D789D3F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804672"/>
            <a:ext cx="5650992" cy="2236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FOR SECURITY — THRESHOLD TUNING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74904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33756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1732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 = 0.5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prediction equally — suboptimal for security.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Optimization Methods: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Youden's J Statistic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Maximizes TPR − FPR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Balances sensitivity &amp; specificity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F1-Score Maximization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Sweeps all probability thresholds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Selects threshold maximizing F1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Directly targets primary metric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9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Optimal threshold ≈ 0.38–0.42 (dataset-dependent)</a:t>
            </a:r>
            <a:endParaRPr lang="en-US" sz="1200" dirty="0"/>
          </a:p>
          <a:p>
            <a:pPr marL="0" indent="0">
              <a:buNone/>
            </a:pPr>
            <a:r>
              <a:rPr lang="en-US" sz="9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Recall significantly at minor Precision cost — the right security trade-off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804672"/>
            <a:ext cx="457200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E6394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43400" y="1005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43400" y="13533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fig7b_threshold_optimization.png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43400" y="16916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vs F1 Score — XGBoost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curve shows F1 at each decision threshold.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= F1-max threshold.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dotted line = Youden's J threshold.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dash-dot = default 0.5 threshold.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43400" y="3246120"/>
            <a:ext cx="4343400" cy="1508760"/>
          </a:xfrm>
          <a:prstGeom prst="rect">
            <a:avLst/>
          </a:prstGeom>
          <a:solidFill>
            <a:srgbClr val="0D2045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0" y="3337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IMPACT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(at opt. threshold)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0" y="3639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315200" y="3886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Slight decrease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72000" y="413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Attacks (FN)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41330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Minimized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72000" y="43799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(FP)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315200" y="43799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Marginally higher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86283E0-3D8A-72F6-41A9-26F8BA216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819912"/>
            <a:ext cx="4572000" cy="2407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CATCHING ZERO-DAY ATTACKS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023360" cy="425196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344168"/>
            <a:ext cx="361188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1732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algorithm — requires NO attack labels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anomalies are easier to isolate than normal points in a random tree partition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exclusively on 'Normal' traffic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traffic deviating significantly from learned normal behavior → flagged as anomaly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parameter = 0.1 (expected 10% anomaly rate)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3101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CRITICAL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3557016"/>
            <a:ext cx="361188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602736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can ONLY detect known, labeled attack patterns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attacks have never been seen — no labels exist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is the safety net: catches novel attack vectors that supervised models miss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0" y="804672"/>
            <a:ext cx="4251960" cy="1874520"/>
          </a:xfrm>
          <a:prstGeom prst="rect">
            <a:avLst/>
          </a:prstGeom>
          <a:solidFill>
            <a:srgbClr val="132952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9160" y="896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17720" y="1170432"/>
            <a:ext cx="41148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080760" y="1188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XGBoost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296912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617720" y="1399032"/>
            <a:ext cx="4114800" cy="22860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needed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080760" y="1417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96912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17720" y="1627632"/>
            <a:ext cx="4114800" cy="22860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080760" y="1645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attacks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296912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anomaly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17720" y="1856232"/>
            <a:ext cx="4114800" cy="22860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capable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080760" y="1874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96912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17720" y="2084832"/>
            <a:ext cx="4114800" cy="22860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080760" y="2103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296912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617720" y="2313432"/>
            <a:ext cx="4114800" cy="22860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080760" y="2331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IDS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296912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detection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0" y="2816352"/>
            <a:ext cx="4251960" cy="2103120"/>
          </a:xfrm>
          <a:prstGeom prst="rect">
            <a:avLst/>
          </a:prstGeom>
          <a:solidFill>
            <a:srgbClr val="132952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709160" y="29077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DETECTION PIPELINE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63440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663440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66344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(Known)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663440" y="4023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Isolation Forest (Unknown)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663440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663440" y="4572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 |  BLOCK  |  LOG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451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— SHAP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92608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14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SHAP?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344168"/>
            <a:ext cx="251460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1732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"Black-box" models are unacceptable in security — analysts must understand WHY a packet was flagged for audit compliance.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= SHapley Additive exPlanations (game-theory grounded)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axioms: Local accuracy, Missingness, Consistency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TreeExplainer: O(TLD) — fast for XGBoost/RF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DIRECTIONAL insight: which features push toward attack vs. normal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850" b="1" kern="0" spc="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SECURITY FEATURES (SHAP)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serror_rate / dst_host_serror_rate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SYN flood (DoS) indicator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src_bytes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Data exfiltration (R2L) signal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dst_host_count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Port scanning (Probe) indicator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29000" y="804672"/>
            <a:ext cx="2651760" cy="2011680"/>
          </a:xfrm>
          <a:prstGeom prst="rect">
            <a:avLst/>
          </a:prstGeom>
          <a:solidFill>
            <a:srgbClr val="132952"/>
          </a:solidFill>
          <a:ln w="12700">
            <a:solidFill>
              <a:srgbClr val="7E57C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20440" y="960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520440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fig8_feature_importance.png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2044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 Feature Importances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XGBoost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features side-by-side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63640" y="804672"/>
            <a:ext cx="2606040" cy="20116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960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55080" y="1234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fig_shap_beeswarm.png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5508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 Plot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impact + direction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features (500-sample subset)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520440" y="31546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520440" y="352044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9AD886-D1A6-6D2D-473A-487C2F6F6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816707"/>
            <a:ext cx="5440680" cy="20116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56BE75-52BF-CB4B-4A36-18BE86F09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962615"/>
            <a:ext cx="2560320" cy="204180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3F59C75-B145-A94A-C47F-899071E44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987040"/>
            <a:ext cx="2560320" cy="2011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ATTACK CLASSIFICATION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47472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BINARY DETECTION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344168"/>
            <a:ext cx="30632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17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detection tells security teams something is wrong.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tells them what kind of attack it is.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423160"/>
            <a:ext cx="18288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423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0876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required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2852928"/>
            <a:ext cx="18288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28529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50876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traffic shaping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2920" y="3282696"/>
            <a:ext cx="1828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32826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508760" y="3282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update + IP block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02920" y="3712464"/>
            <a:ext cx="182880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37124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508760" y="37124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reset + session audit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02920" y="4142232"/>
            <a:ext cx="18288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414223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508760" y="4142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audit + kernel patch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2920" y="4617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(class_weight='balanced')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~99%+ | U2R/R2L remain challenging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977640" y="804672"/>
            <a:ext cx="4846320" cy="4114800"/>
          </a:xfrm>
          <a:prstGeom prst="rect">
            <a:avLst/>
          </a:prstGeom>
          <a:solidFill>
            <a:srgbClr val="132952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069080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FIGURE HERE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069080" y="1353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fig10_multiclass_cm.png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069080" y="1737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Confusion Matrix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 matrix: Normal, DoS, Probe, R2L, U2R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class_weight='balanced'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DoS and Normal achieve near-perfect precision/recall.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and R2L show some misclassification due to extreme class scarcity —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the ongoing challenge of rare attack detection.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069080" y="3493008"/>
            <a:ext cx="4663440" cy="1261872"/>
          </a:xfrm>
          <a:prstGeom prst="rect">
            <a:avLst/>
          </a:prstGeom>
          <a:solidFill>
            <a:srgbClr val="0D2045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251960" y="35844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251960" y="3794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that multi-class granularity enables targeted incident response. Security analysts can immediately route DoS to network ops, U2R to the privilege team, and R2L to credential security — reducing mean time to respond (MTTR).</a:t>
            </a:r>
            <a:endParaRPr lang="en-US" sz="8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400D163-A828-32FE-FA95-EDCC61ACE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191" y="804672"/>
            <a:ext cx="492400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D2045"/>
          </a:solidFill>
          <a:ln w="12700">
            <a:solidFill>
              <a:srgbClr val="0D20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07792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28600" y="896112"/>
            <a:ext cx="4160520" cy="2331720"/>
          </a:xfrm>
          <a:prstGeom prst="rect">
            <a:avLst/>
          </a:prstGeom>
          <a:solidFill>
            <a:srgbClr val="132952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875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11480" y="1389888"/>
            <a:ext cx="37490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144475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pipeline: SMOTE + XGBoost + Isolation Forest + SHAP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~99.5% F1-score on binary classification (NSL-KDD)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for security-aware recall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analyst-facing audit compliance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Multi-class: DoS / Probe / R2L / U2R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0" y="896112"/>
            <a:ext cx="4251960" cy="2331720"/>
          </a:xfrm>
          <a:prstGeom prst="rect">
            <a:avLst/>
          </a:prstGeom>
          <a:solidFill>
            <a:srgbClr val="132952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9875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1389888"/>
            <a:ext cx="3749040" cy="1828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754880" y="144475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packet sniffing via Scapy/pyshark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distributed edge nodes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CICIDS-2017/2018 for cloud-native patterns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 sequence-aware traffic modeling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retraining for production concept drift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65760" y="33192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 SUMMARY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56032" y="3602736"/>
            <a:ext cx="1097280" cy="594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6032" y="3602736"/>
            <a:ext cx="1097280" cy="36576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56032" y="363931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1353312" y="3895344"/>
            <a:ext cx="146304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499616" y="3602736"/>
            <a:ext cx="1097280" cy="594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499616" y="3602736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499616" y="363931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2596896" y="3895344"/>
            <a:ext cx="146304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743200" y="3602736"/>
            <a:ext cx="1097280" cy="594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43200" y="3602736"/>
            <a:ext cx="1097280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743200" y="363931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3840480" y="3895344"/>
            <a:ext cx="146304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986784" y="3602736"/>
            <a:ext cx="1097280" cy="594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986784" y="3602736"/>
            <a:ext cx="10972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986784" y="363931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(Optuna)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5084064" y="3895344"/>
            <a:ext cx="146304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230368" y="3602736"/>
            <a:ext cx="1097280" cy="594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230368" y="3602736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230368" y="363931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6327648" y="3895344"/>
            <a:ext cx="146304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473952" y="3602736"/>
            <a:ext cx="1097280" cy="594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473952" y="3602736"/>
            <a:ext cx="1097280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73952" y="363931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7571232" y="3895344"/>
            <a:ext cx="146304" cy="0"/>
          </a:xfrm>
          <a:prstGeom prst="line">
            <a:avLst/>
          </a:prstGeom>
          <a:noFill/>
          <a:ln w="19050">
            <a:solidFill>
              <a:srgbClr val="1E407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717536" y="3602736"/>
            <a:ext cx="1097280" cy="594360"/>
          </a:xfrm>
          <a:prstGeom prst="rect">
            <a:avLst/>
          </a:prstGeom>
          <a:solidFill>
            <a:srgbClr val="132952"/>
          </a:solidFill>
          <a:ln w="12700">
            <a:solidFill>
              <a:srgbClr val="132952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717536" y="3602736"/>
            <a:ext cx="10972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717536" y="363931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CS361 – Data Science Lab Project  |  SVNIT Surat  |  Jan–June 2026  |  NSL-KDD Benchmark Dataset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1892</Words>
  <Application>Microsoft Office PowerPoint</Application>
  <PresentationFormat>On-screen Show (16:9)</PresentationFormat>
  <Paragraphs>345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Intrusion Detection System — CS361</dc:title>
  <dc:subject>PptxGenJS Presentation</dc:subject>
  <dc:creator>SVNIT Surat</dc:creator>
  <cp:lastModifiedBy>Kirtan Sodagar</cp:lastModifiedBy>
  <cp:revision>2</cp:revision>
  <dcterms:created xsi:type="dcterms:W3CDTF">2026-04-18T14:03:28Z</dcterms:created>
  <dcterms:modified xsi:type="dcterms:W3CDTF">2026-04-18T14:35:24Z</dcterms:modified>
</cp:coreProperties>
</file>